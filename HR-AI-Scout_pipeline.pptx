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38"/>
    <p:restoredTop sz="97900"/>
  </p:normalViewPr>
  <p:slideViewPr>
    <p:cSldViewPr snapToGrid="0" snapToObjects="1">
      <p:cViewPr varScale="1">
        <p:scale>
          <a:sx n="289" d="100"/>
          <a:sy n="289" d="100"/>
        </p:scale>
        <p:origin x="132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64592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C3E50"/>
                </a:solidFill>
              </a:rPr>
              <a:t>HR-AI Scout — архитектура пайплайна</a:t>
            </a:r>
          </a:p>
          <a:p>
            <a:pPr algn="l"/>
            <a:r>
              <a:rPr sz="1200" i="1">
                <a:solidFill>
                  <a:srgbClr val="7F8C8D"/>
                </a:solidFill>
              </a:rPr>
              <a:t>От сбора резюме до дообучения модели на решениях рекрутера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19" y="1371600"/>
            <a:ext cx="2011680" cy="1627632"/>
          </a:xfrm>
          <a:prstGeom prst="roundRect">
            <a:avLst/>
          </a:prstGeom>
          <a:solidFill>
            <a:srgbClr val="1F6FB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 · Airflow DAGs</a:t>
            </a:r>
          </a:p>
          <a:p>
            <a:pPr algn="ctr">
              <a:spcBef>
                <a:spcPts val="300"/>
              </a:spcBef>
            </a:pPr>
            <a:r>
              <a:rPr sz="950">
                <a:solidFill>
                  <a:srgbClr val="FFFFFF"/>
                </a:solidFill>
              </a:rPr>
              <a:t>Сбор данных (resume_daily,
vacancy_daily): HH.ru, Habr,
SuperJob → резюме и вакансии
сохраняются в БД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0" y="1371600"/>
            <a:ext cx="2011680" cy="1627632"/>
          </a:xfrm>
          <a:prstGeom prst="roundRect">
            <a:avLst/>
          </a:prstGeom>
          <a:solidFill>
            <a:srgbClr val="2E86C1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 · DAG labse_embeddings</a:t>
            </a:r>
          </a:p>
          <a:p>
            <a:pPr algn="ctr">
              <a:spcBef>
                <a:spcPts val="300"/>
              </a:spcBef>
            </a:pPr>
            <a:r>
              <a:rPr sz="950">
                <a:solidFill>
                  <a:srgbClr val="FFFFFF"/>
                </a:solidFill>
              </a:rPr>
              <a:t>LaBSE (BERT) эмбеддинги
резюме и вакансий →
сохранение в БД для
формирования кандидатов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0" y="1371600"/>
            <a:ext cx="2011680" cy="1627632"/>
          </a:xfrm>
          <a:prstGeom prst="roundRect">
            <a:avLst/>
          </a:prstGeom>
          <a:solidFill>
            <a:srgbClr val="16A08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 · FastAPI</a:t>
            </a:r>
          </a:p>
          <a:p>
            <a:pPr algn="ctr">
              <a:spcBef>
                <a:spcPts val="300"/>
              </a:spcBef>
            </a:pPr>
            <a:r>
              <a:rPr sz="950">
                <a:solidFill>
                  <a:srgbClr val="FFFFFF"/>
                </a:solidFill>
              </a:rPr>
              <a:t>Расчёт TF-IDF эмбеддингов
+ ALS-матрица →
формирование списка
кандидатов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371600"/>
            <a:ext cx="2011680" cy="1627632"/>
          </a:xfrm>
          <a:prstGeom prst="roundRect">
            <a:avLst/>
          </a:prstGeom>
          <a:solidFill>
            <a:srgbClr val="E74C3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4 · Streamlit</a:t>
            </a:r>
          </a:p>
          <a:p>
            <a:pPr algn="ctr">
              <a:spcBef>
                <a:spcPts val="300"/>
              </a:spcBef>
            </a:pPr>
            <a:r>
              <a:rPr sz="950">
                <a:solidFill>
                  <a:srgbClr val="FFFFFF"/>
                </a:solidFill>
              </a:rPr>
              <a:t>Подбор кандидатов
рекрутером: просмотр
и взаимодействие
с резюме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18320" y="1371600"/>
            <a:ext cx="2011680" cy="1627632"/>
          </a:xfrm>
          <a:prstGeom prst="roundRect">
            <a:avLst/>
          </a:prstGeom>
          <a:solidFill>
            <a:srgbClr val="E67E2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5 · Решения рекрутера</a:t>
            </a:r>
          </a:p>
          <a:p>
            <a:pPr algn="ctr">
              <a:spcBef>
                <a:spcPts val="300"/>
              </a:spcBef>
            </a:pPr>
            <a:r>
              <a:rPr sz="950">
                <a:solidFill>
                  <a:srgbClr val="FFFFFF"/>
                </a:solidFill>
              </a:rPr>
              <a:t>Взаимодействия и решения
сохраняются в БД
(recruiter_decisions)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13432" y="2185416"/>
            <a:ext cx="219456" cy="0"/>
          </a:xfrm>
          <a:prstGeom prst="line">
            <a:avLst/>
          </a:prstGeom>
          <a:ln w="28575">
            <a:solidFill>
              <a:srgbClr val="3449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599432" y="2185416"/>
            <a:ext cx="219456" cy="0"/>
          </a:xfrm>
          <a:prstGeom prst="line">
            <a:avLst/>
          </a:prstGeom>
          <a:ln w="28575">
            <a:solidFill>
              <a:srgbClr val="3449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885432" y="2185416"/>
            <a:ext cx="219456" cy="0"/>
          </a:xfrm>
          <a:prstGeom prst="line">
            <a:avLst/>
          </a:prstGeom>
          <a:ln w="28575">
            <a:solidFill>
              <a:srgbClr val="3449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171432" y="2185416"/>
            <a:ext cx="219456" cy="0"/>
          </a:xfrm>
          <a:prstGeom prst="line">
            <a:avLst/>
          </a:prstGeom>
          <a:ln w="28575">
            <a:solidFill>
              <a:srgbClr val="3449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74320" y="3456432"/>
            <a:ext cx="11155680" cy="960120"/>
          </a:xfrm>
          <a:prstGeom prst="roundRect">
            <a:avLst/>
          </a:prstGeom>
          <a:solidFill>
            <a:srgbClr val="5D6D7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База данных (ClickHouse)</a:t>
            </a:r>
          </a:p>
          <a:p>
            <a:pPr algn="ctr"/>
            <a:r>
              <a:rPr sz="1050">
                <a:solidFill>
                  <a:srgbClr val="ECF0F1"/>
                </a:solidFill>
              </a:rPr>
              <a:t>резюме · вакансии · LaBSE / TF-IDF эмбеддинги · решения рекрутера</a:t>
            </a:r>
          </a:p>
        </p:txBody>
      </p:sp>
      <p:sp>
        <p:nvSpPr>
          <p:cNvPr id="13" name="Can 12"/>
          <p:cNvSpPr/>
          <p:nvPr/>
        </p:nvSpPr>
        <p:spPr>
          <a:xfrm>
            <a:off x="502920" y="3611879"/>
            <a:ext cx="502920" cy="658368"/>
          </a:xfrm>
          <a:prstGeom prst="can">
            <a:avLst/>
          </a:prstGeom>
          <a:solidFill>
            <a:srgbClr val="41556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Connector 13"/>
          <p:cNvCxnSpPr/>
          <p:nvPr/>
        </p:nvCxnSpPr>
        <p:spPr>
          <a:xfrm>
            <a:off x="1280160" y="2999232"/>
            <a:ext cx="0" cy="457200"/>
          </a:xfrm>
          <a:prstGeom prst="line">
            <a:avLst/>
          </a:prstGeom>
          <a:ln w="28575">
            <a:solidFill>
              <a:srgbClr val="1F6F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566160" y="2999232"/>
            <a:ext cx="0" cy="457200"/>
          </a:xfrm>
          <a:prstGeom prst="line">
            <a:avLst/>
          </a:prstGeom>
          <a:ln w="28575">
            <a:solidFill>
              <a:srgbClr val="2E86C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852160" y="2999232"/>
            <a:ext cx="0" cy="457200"/>
          </a:xfrm>
          <a:prstGeom prst="line">
            <a:avLst/>
          </a:prstGeom>
          <a:ln w="28575">
            <a:solidFill>
              <a:srgbClr val="16A0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424160" y="2999232"/>
            <a:ext cx="0" cy="457200"/>
          </a:xfrm>
          <a:prstGeom prst="line">
            <a:avLst/>
          </a:prstGeom>
          <a:ln w="28575">
            <a:solidFill>
              <a:srgbClr val="E67E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743200" y="5074920"/>
            <a:ext cx="6400800" cy="1005840"/>
          </a:xfrm>
          <a:prstGeom prst="roundRect">
            <a:avLst/>
          </a:prstGeom>
          <a:solidFill>
            <a:srgbClr val="8E44AD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DAG retrain_pipeline — дообучение CatBoost</a:t>
            </a:r>
          </a:p>
          <a:p>
            <a:pPr algn="ctr">
              <a:spcBef>
                <a:spcPts val="300"/>
              </a:spcBef>
            </a:pPr>
            <a:r>
              <a:rPr sz="1050">
                <a:solidFill>
                  <a:srgbClr val="FFFFFF"/>
                </a:solidFill>
              </a:rPr>
              <a:t>Переобучение модели на обогащённых данных (новые решения рекрутера) →
обновлённая модель возвращается в FastAPI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43600" y="4416552"/>
            <a:ext cx="0" cy="658368"/>
          </a:xfrm>
          <a:prstGeom prst="line">
            <a:avLst/>
          </a:prstGeom>
          <a:ln w="28575">
            <a:solidFill>
              <a:srgbClr val="8E44A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144000" y="5577840"/>
            <a:ext cx="2697480" cy="0"/>
          </a:xfrm>
          <a:prstGeom prst="line">
            <a:avLst/>
          </a:prstGeom>
          <a:ln w="3175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1841480" y="1115568"/>
            <a:ext cx="0" cy="4462272"/>
          </a:xfrm>
          <a:prstGeom prst="line">
            <a:avLst/>
          </a:prstGeom>
          <a:ln w="3175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5852160" y="1115568"/>
            <a:ext cx="5989320" cy="0"/>
          </a:xfrm>
          <a:prstGeom prst="line">
            <a:avLst/>
          </a:prstGeom>
          <a:ln w="3175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852160" y="1115568"/>
            <a:ext cx="0" cy="256032"/>
          </a:xfrm>
          <a:prstGeom prst="line">
            <a:avLst/>
          </a:prstGeom>
          <a:ln w="31750"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400800" y="868680"/>
            <a:ext cx="5120640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1000" b="1">
                <a:solidFill>
                  <a:srgbClr val="8E44AD"/>
                </a:solidFill>
              </a:rPr>
              <a:t>🔄 обновлённая модель → FastAPI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162</Words>
  <Application>Microsoft Macintosh PowerPoint</Application>
  <PresentationFormat>Широкоэкранный</PresentationFormat>
  <Paragraphs>17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Alexander Usov</cp:lastModifiedBy>
  <cp:revision>2</cp:revision>
  <dcterms:created xsi:type="dcterms:W3CDTF">2013-01-27T09:14:16Z</dcterms:created>
  <dcterms:modified xsi:type="dcterms:W3CDTF">2026-06-14T09:11:35Z</dcterms:modified>
  <cp:category/>
</cp:coreProperties>
</file>